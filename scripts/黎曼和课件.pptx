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黎曼和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880360"/>
            <a:ext cx="1097280" cy="54864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AABBCC"/>
                </a:solidFill>
              </a:defRPr>
            </a:pPr>
            <a:r>
              <a:t>Riemann Sum</a:t>
            </a:r>
          </a:p>
          <a:p>
            <a:pPr>
              <a:spcAft>
                <a:spcPts val="600"/>
              </a:spcAft>
              <a:defRPr sz="2400">
                <a:solidFill>
                  <a:srgbClr val="AABBCC"/>
                </a:solidFill>
              </a:defRPr>
            </a:pPr>
            <a:r>
              <a:t>从矩形近似到定积分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7788"/>
                </a:solidFill>
              </a:defRPr>
            </a:pPr>
            <a:r>
              <a:t>数学博物馆 · 数学之美展区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什么是黎曼和？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0" cy="54864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核心思想：用矩形面积之和近似曲线下面积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把 [a, b] 分成 n 个小区间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每个区间上画一个矩形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所有矩形面积相加 ≈ 曲线下面积</a:t>
            </a:r>
          </a:p>
        </p:txBody>
      </p:sp>
      <p:pic>
        <p:nvPicPr>
          <p:cNvPr id="5" name="Picture 4" descr="add_rectangle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475488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06240" y="4297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 = Σ f(xᵢ*) · Δxᵢ</a:t>
            </a:r>
          </a:p>
          <a:p>
            <a:pPr algn="ctr">
              <a:defRPr sz="1400">
                <a:solidFill>
                  <a:srgbClr val="8899AA"/>
                </a:solidFill>
              </a:defRPr>
            </a:pPr>
            <a:r>
              <a:t>Δx = (b−a)/n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三种取点方式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0" cy="54864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左端点 → 低估递增函数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右端点 → 高估递增函数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中  点 → 通常更精确</a:t>
            </a:r>
          </a:p>
        </p:txBody>
      </p:sp>
      <p:pic>
        <p:nvPicPr>
          <p:cNvPr id="5" name="Picture 4" descr="type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743200"/>
            <a:ext cx="87782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 越大，近似越精确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0" cy="54864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vergenc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05840"/>
            <a:ext cx="896112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3035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∫₀³ x² dx = 9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n=1 → 6.75  |  n=4 → 8.44  |  n=16 → 8.88  |  n=64 → 8.99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从黎曼和到定积分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0" cy="54864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teg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029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r>
              <a:t>牛顿-莱布尼茨公式：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</a:defRPr>
            </a:pPr>
            <a:r>
              <a:t>∫ₐᵇ f(x) dx = F(b) − F(a)    其中 F'(x) = f(x)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动手试试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0" cy="54864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例：∫₀² (x + 1) dx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分 [0,2] 为 n 份，Δx = 2/n，取右端点 xᵢ = 2i/n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Sₙ = Σ (2i/n + 1)·(2/n)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   = 2(n+1)/n + 2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lim Sₙ = 2 + 2 = 4  ✓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</a:defRPr>
            </a:pPr>
            <a:r>
              <a:t>验证：[x²/2 + x]₀² = 2 + 2 =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0" cy="54864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CCCCCC"/>
                </a:solidFill>
              </a:defRPr>
            </a:pPr>
            <a:r>
              <a:t>✦ 黎曼和 = 用矩形近似曲线下面积</a:t>
            </a:r>
          </a:p>
          <a:p>
            <a:pPr>
              <a:spcAft>
                <a:spcPts val="600"/>
              </a:spcAft>
              <a:defRPr sz="24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2400">
                <a:solidFill>
                  <a:srgbClr val="CCCCCC"/>
                </a:solidFill>
              </a:defRPr>
            </a:pPr>
            <a:r>
              <a:t>✦ 三种取点：左端点 / 右端点 / 中点</a:t>
            </a:r>
          </a:p>
          <a:p>
            <a:pPr>
              <a:spcAft>
                <a:spcPts val="600"/>
              </a:spcAft>
              <a:defRPr sz="24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2400">
                <a:solidFill>
                  <a:srgbClr val="CCCCCC"/>
                </a:solidFill>
              </a:defRPr>
            </a:pPr>
            <a:r>
              <a:t>✦ 矩形越多 (n→∞)，近似越精确</a:t>
            </a:r>
          </a:p>
          <a:p>
            <a:pPr>
              <a:spcAft>
                <a:spcPts val="600"/>
              </a:spcAft>
              <a:defRPr sz="24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2400">
                <a:solidFill>
                  <a:srgbClr val="CCCCCC"/>
                </a:solidFill>
              </a:defRPr>
            </a:pPr>
            <a:r>
              <a:t>✦ 黎曼和的极限 = 定积分</a:t>
            </a:r>
          </a:p>
          <a:p>
            <a:pPr>
              <a:spcAft>
                <a:spcPts val="600"/>
              </a:spcAft>
              <a:defRPr sz="24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2400">
                <a:solidFill>
                  <a:srgbClr val="CCCCCC"/>
                </a:solidFill>
              </a:defRPr>
            </a:pPr>
            <a:r>
              <a:t>✦ 定积分是微积分的核心概念之一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611880"/>
            <a:ext cx="1097280" cy="54864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667788"/>
                </a:solidFill>
              </a:defRPr>
            </a:pPr>
            <a:r>
              <a:t>数学博物馆 · mathlearnlab.cn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